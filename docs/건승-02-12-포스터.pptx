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9" r:id="rId2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AC37"/>
    <a:srgbClr val="6C61F9"/>
    <a:srgbClr val="FF6D6D"/>
    <a:srgbClr val="8F6DFF"/>
    <a:srgbClr val="D2CFFD"/>
    <a:srgbClr val="B08CF8"/>
    <a:srgbClr val="6037F7"/>
    <a:srgbClr val="584CF6"/>
    <a:srgbClr val="A6A0F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B33022-B5E1-F14F-77FB-A55433B73ECD}" v="116" dt="2025-10-13T11:54:50.316"/>
    <p1510:client id="{FA80D7AF-EA82-50FB-3324-348986773AFD}" v="440" dt="2025-10-13T11:45:34.715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58" autoAdjust="0"/>
    <p:restoredTop sz="96946" autoAdjust="0"/>
  </p:normalViewPr>
  <p:slideViewPr>
    <p:cSldViewPr snapToGrid="0">
      <p:cViewPr>
        <p:scale>
          <a:sx n="53" d="100"/>
          <a:sy n="53" d="100"/>
        </p:scale>
        <p:origin x="2712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1DA4B-FD19-2E4C-951B-4F7985964E81}" type="datetimeFigureOut">
              <a:rPr kumimoji="1" lang="ko-KR" altLang="en-US" smtClean="0"/>
              <a:t>2025. 10. 17.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3DC77-D89D-6C4A-9306-5DAF1D032F6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9767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09B6F-1591-7C88-6064-CD3CFA30C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AC5334-F7FD-CA22-C472-60B6E79D1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456D4F-F83C-D2BA-7472-29EB7A0F3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4E8CB8-2A7E-1924-35A0-D24E0DF0A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3DC77-D89D-6C4A-9306-5DAF1D032F6C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3035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DD50-86BE-4E9A-8425-50B39B65994C}" type="datetimeFigureOut">
              <a:rPr lang="ko-KR" altLang="en-US" smtClean="0"/>
              <a:t>2025. 10. 17.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78C0-7DE0-4154-8C8A-1492F86CA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16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DD50-86BE-4E9A-8425-50B39B65994C}" type="datetimeFigureOut">
              <a:rPr lang="ko-KR" altLang="en-US" smtClean="0"/>
              <a:t>2025. 10. 17.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78C0-7DE0-4154-8C8A-1492F86CA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274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DD50-86BE-4E9A-8425-50B39B65994C}" type="datetimeFigureOut">
              <a:rPr lang="ko-KR" altLang="en-US" smtClean="0"/>
              <a:t>2025. 10. 17.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78C0-7DE0-4154-8C8A-1492F86CA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464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DD50-86BE-4E9A-8425-50B39B65994C}" type="datetimeFigureOut">
              <a:rPr lang="ko-KR" altLang="en-US" smtClean="0"/>
              <a:t>2025. 10. 17.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78C0-7DE0-4154-8C8A-1492F86CA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643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DD50-86BE-4E9A-8425-50B39B65994C}" type="datetimeFigureOut">
              <a:rPr lang="ko-KR" altLang="en-US" smtClean="0"/>
              <a:t>2025. 10. 17.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78C0-7DE0-4154-8C8A-1492F86CA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214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DD50-86BE-4E9A-8425-50B39B65994C}" type="datetimeFigureOut">
              <a:rPr lang="ko-KR" altLang="en-US" smtClean="0"/>
              <a:t>2025. 10. 17.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78C0-7DE0-4154-8C8A-1492F86CA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74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DD50-86BE-4E9A-8425-50B39B65994C}" type="datetimeFigureOut">
              <a:rPr lang="ko-KR" altLang="en-US" smtClean="0"/>
              <a:t>2025. 10. 17.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78C0-7DE0-4154-8C8A-1492F86CA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007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DD50-86BE-4E9A-8425-50B39B65994C}" type="datetimeFigureOut">
              <a:rPr lang="ko-KR" altLang="en-US" smtClean="0"/>
              <a:t>2025. 10. 17.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78C0-7DE0-4154-8C8A-1492F86CA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05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DD50-86BE-4E9A-8425-50B39B65994C}" type="datetimeFigureOut">
              <a:rPr lang="ko-KR" altLang="en-US" smtClean="0"/>
              <a:t>2025. 10. 17.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78C0-7DE0-4154-8C8A-1492F86CA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90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DD50-86BE-4E9A-8425-50B39B65994C}" type="datetimeFigureOut">
              <a:rPr lang="ko-KR" altLang="en-US" smtClean="0"/>
              <a:t>2025. 10. 17.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78C0-7DE0-4154-8C8A-1492F86CA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555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DD50-86BE-4E9A-8425-50B39B65994C}" type="datetimeFigureOut">
              <a:rPr lang="ko-KR" altLang="en-US" smtClean="0"/>
              <a:t>2025. 10. 17.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78C0-7DE0-4154-8C8A-1492F86CA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2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03DD50-86BE-4E9A-8425-50B39B65994C}" type="datetimeFigureOut">
              <a:rPr lang="ko-KR" altLang="en-US" smtClean="0"/>
              <a:t>2025. 10. 17.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578C0-7DE0-4154-8C8A-1492F86CA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39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1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AA568-5C5A-722E-1754-44E0A0871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B19EDEE-5E92-A999-185C-69A7ACC62D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462" y="-12067"/>
            <a:ext cx="15120000" cy="21384000"/>
          </a:xfrm>
          <a:prstGeom prst="rect">
            <a:avLst/>
          </a:prstGeom>
          <a:solidFill>
            <a:srgbClr val="56AC37">
              <a:alpha val="799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BFC1EEB8-F50A-8763-6147-F2433D457D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8290" y="2023110"/>
            <a:ext cx="14282771" cy="18949969"/>
          </a:xfrm>
          <a:prstGeom prst="roundRect">
            <a:avLst>
              <a:gd name="adj" fmla="val 2262"/>
            </a:avLst>
          </a:prstGeom>
          <a:solidFill>
            <a:schemeClr val="bg1"/>
          </a:solidFill>
          <a:ln>
            <a:solidFill>
              <a:srgbClr val="56AC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adugi" panose="020B0502040204020203" pitchFamily="34" charset="0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96EE276C-D8ED-AE92-D920-15A5FE0914F8}"/>
              </a:ext>
            </a:extLst>
          </p:cNvPr>
          <p:cNvCxnSpPr>
            <a:cxnSpLocks/>
          </p:cNvCxnSpPr>
          <p:nvPr/>
        </p:nvCxnSpPr>
        <p:spPr>
          <a:xfrm>
            <a:off x="8047207" y="15734491"/>
            <a:ext cx="5981782" cy="0"/>
          </a:xfrm>
          <a:prstGeom prst="line">
            <a:avLst/>
          </a:prstGeom>
          <a:ln w="38100" cap="rnd">
            <a:solidFill>
              <a:srgbClr val="56AC37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AB57DF5-7248-73D7-94B6-1A59D9F5BE99}"/>
              </a:ext>
            </a:extLst>
          </p:cNvPr>
          <p:cNvSpPr/>
          <p:nvPr/>
        </p:nvSpPr>
        <p:spPr>
          <a:xfrm>
            <a:off x="790576" y="16343004"/>
            <a:ext cx="7198224" cy="361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269F06-4C3C-D9BA-2CA2-D7E72CD2AA8A}"/>
              </a:ext>
            </a:extLst>
          </p:cNvPr>
          <p:cNvSpPr txBox="1"/>
          <p:nvPr/>
        </p:nvSpPr>
        <p:spPr>
          <a:xfrm>
            <a:off x="418289" y="334346"/>
            <a:ext cx="3609834" cy="10464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6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With Pet</a:t>
            </a:r>
            <a:endParaRPr lang="ko-KR" altLang="en-US" sz="6800" b="1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F13FF-FD4F-DD41-7977-D862ADE6E88E}"/>
              </a:ext>
            </a:extLst>
          </p:cNvPr>
          <p:cNvSpPr txBox="1"/>
          <p:nvPr/>
        </p:nvSpPr>
        <p:spPr>
          <a:xfrm>
            <a:off x="418289" y="1422352"/>
            <a:ext cx="7426713" cy="38472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ko-KR" altLang="en-US" sz="25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유기 동물 입양 장려 </a:t>
            </a:r>
            <a:r>
              <a:rPr lang="en-US" altLang="ko-KR" sz="25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AI</a:t>
            </a:r>
            <a:r>
              <a:rPr lang="ko-KR" altLang="en-US" sz="25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이미지 생성 및 매칭 플랫폼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9DE295-16D1-681C-41BC-F6BE5DB6E107}"/>
              </a:ext>
            </a:extLst>
          </p:cNvPr>
          <p:cNvSpPr txBox="1"/>
          <p:nvPr/>
        </p:nvSpPr>
        <p:spPr>
          <a:xfrm>
            <a:off x="11171248" y="1439968"/>
            <a:ext cx="3529813" cy="38472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 anchorCtr="0">
            <a:spAutoFit/>
          </a:bodyPr>
          <a:lstStyle/>
          <a:p>
            <a:pPr algn="r"/>
            <a:r>
              <a:rPr lang="ko-KR" altLang="en-US" sz="25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지도교수 </a:t>
            </a:r>
            <a:r>
              <a:rPr lang="en-US" altLang="ko-KR" sz="25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: </a:t>
            </a:r>
            <a:r>
              <a:rPr lang="ko-KR" altLang="en-US" sz="25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정 지 훈 교수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A49B210-9648-A853-1504-EE389A44D5C4}"/>
              </a:ext>
            </a:extLst>
          </p:cNvPr>
          <p:cNvCxnSpPr>
            <a:cxnSpLocks/>
          </p:cNvCxnSpPr>
          <p:nvPr/>
        </p:nvCxnSpPr>
        <p:spPr>
          <a:xfrm>
            <a:off x="1048362" y="5376126"/>
            <a:ext cx="13043876" cy="0"/>
          </a:xfrm>
          <a:prstGeom prst="line">
            <a:avLst/>
          </a:prstGeom>
          <a:ln w="38100" cap="rnd">
            <a:solidFill>
              <a:srgbClr val="56AC37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FC8BAFF-22DF-D189-9839-55F15F7709C9}"/>
              </a:ext>
            </a:extLst>
          </p:cNvPr>
          <p:cNvCxnSpPr>
            <a:cxnSpLocks/>
          </p:cNvCxnSpPr>
          <p:nvPr/>
        </p:nvCxnSpPr>
        <p:spPr>
          <a:xfrm>
            <a:off x="1048362" y="3087557"/>
            <a:ext cx="13043875" cy="0"/>
          </a:xfrm>
          <a:prstGeom prst="line">
            <a:avLst/>
          </a:prstGeom>
          <a:ln w="38100" cap="rnd">
            <a:solidFill>
              <a:srgbClr val="56AC37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D12FE70-46EB-6A3B-4A38-572FDB2D3B3B}"/>
              </a:ext>
            </a:extLst>
          </p:cNvPr>
          <p:cNvSpPr txBox="1"/>
          <p:nvPr/>
        </p:nvSpPr>
        <p:spPr>
          <a:xfrm>
            <a:off x="993243" y="2504373"/>
            <a:ext cx="35664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6AC3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01</a:t>
            </a:r>
            <a:r>
              <a:rPr lang="en-US" altLang="ko-KR" sz="3000" b="1" dirty="0">
                <a:solidFill>
                  <a:srgbClr val="A6A0F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30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프로젝트 개요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54F9D3-1331-A448-0749-A0054B48A0E9}"/>
              </a:ext>
            </a:extLst>
          </p:cNvPr>
          <p:cNvSpPr txBox="1"/>
          <p:nvPr/>
        </p:nvSpPr>
        <p:spPr>
          <a:xfrm>
            <a:off x="7942249" y="2504373"/>
            <a:ext cx="54191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6AC3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02</a:t>
            </a:r>
            <a:r>
              <a:rPr lang="en-US" altLang="ko-KR" sz="3000" b="1" dirty="0">
                <a:solidFill>
                  <a:srgbClr val="A6A0F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30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프로젝트 배경 및 기대효과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F42075-8F17-7729-BC8E-D534DBDE2870}"/>
              </a:ext>
            </a:extLst>
          </p:cNvPr>
          <p:cNvSpPr txBox="1"/>
          <p:nvPr/>
        </p:nvSpPr>
        <p:spPr>
          <a:xfrm>
            <a:off x="989537" y="4805394"/>
            <a:ext cx="47891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6AC3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03</a:t>
            </a:r>
            <a:r>
              <a:rPr lang="en-US" altLang="ko-KR" sz="3000" b="1" dirty="0">
                <a:solidFill>
                  <a:srgbClr val="A6A0F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30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주요 기능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6FA030-DDBC-F744-DA7E-A0A092F21354}"/>
              </a:ext>
            </a:extLst>
          </p:cNvPr>
          <p:cNvSpPr txBox="1"/>
          <p:nvPr/>
        </p:nvSpPr>
        <p:spPr>
          <a:xfrm>
            <a:off x="1027109" y="3206602"/>
            <a:ext cx="6561530" cy="10715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2000" dirty="0">
                <a:latin typeface="+mn-ea"/>
              </a:rPr>
              <a:t>반려동물에 대한 개인의 선호도를 바탕으로</a:t>
            </a:r>
            <a:r>
              <a:rPr lang="en-US" altLang="ko-KR" sz="2000">
                <a:latin typeface="+mn-ea"/>
              </a:rPr>
              <a:t>,</a:t>
            </a:r>
            <a:r>
              <a:rPr lang="ko-KR" altLang="en-US" sz="2000">
                <a:latin typeface="+mn-ea"/>
              </a:rPr>
              <a:t> </a:t>
            </a:r>
            <a:endParaRPr lang="en-US" altLang="ko-KR" sz="2000">
              <a:latin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2000">
                <a:latin typeface="+mn-ea"/>
              </a:rPr>
              <a:t>AI </a:t>
            </a:r>
            <a:r>
              <a:rPr lang="ko-KR" altLang="en-US" sz="2000" dirty="0">
                <a:latin typeface="+mn-ea"/>
              </a:rPr>
              <a:t>기반 이미지 생성 및 개인 맞춤 품종 매칭을 통해 유기동물의 입양 가능성을 높이는 플랫폼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D068B5-5426-A0DF-4B92-CDC4074F5C75}"/>
              </a:ext>
            </a:extLst>
          </p:cNvPr>
          <p:cNvSpPr txBox="1"/>
          <p:nvPr/>
        </p:nvSpPr>
        <p:spPr>
          <a:xfrm>
            <a:off x="7959787" y="3139146"/>
            <a:ext cx="6604718" cy="182870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2000" dirty="0">
                <a:latin typeface="맑은 고딕"/>
                <a:ea typeface="맑은 고딕"/>
              </a:rPr>
              <a:t>-  </a:t>
            </a:r>
            <a:r>
              <a:rPr lang="ko-KR" altLang="en-US" sz="2000" dirty="0">
                <a:latin typeface="맑은 고딕"/>
                <a:ea typeface="맑은 고딕"/>
              </a:rPr>
              <a:t>매년 약 </a:t>
            </a:r>
            <a:r>
              <a:rPr lang="en-US" altLang="ko-KR" sz="2000" dirty="0">
                <a:latin typeface="맑은 고딕"/>
                <a:ea typeface="맑은 고딕"/>
              </a:rPr>
              <a:t>13</a:t>
            </a:r>
            <a:r>
              <a:rPr lang="ko-KR" altLang="en-US" sz="2000" dirty="0">
                <a:latin typeface="맑은 고딕"/>
                <a:ea typeface="맑은 고딕"/>
              </a:rPr>
              <a:t>만 마리 유기동물 발생</a:t>
            </a:r>
            <a:r>
              <a:rPr lang="en-US" altLang="ko-KR" sz="2000" dirty="0">
                <a:latin typeface="맑은 고딕"/>
                <a:ea typeface="맑은 고딕"/>
              </a:rPr>
              <a:t>, </a:t>
            </a:r>
            <a:r>
              <a:rPr lang="ko-KR" altLang="en-US" sz="2000" dirty="0" err="1">
                <a:latin typeface="맑은 고딕"/>
                <a:ea typeface="맑은 고딕"/>
              </a:rPr>
              <a:t>입양률</a:t>
            </a:r>
            <a:r>
              <a:rPr lang="ko-KR" altLang="en-US" sz="2000" dirty="0">
                <a:latin typeface="맑은 고딕"/>
                <a:ea typeface="맑은 고딕"/>
              </a:rPr>
              <a:t> </a:t>
            </a:r>
            <a:r>
              <a:rPr lang="ko-KR" altLang="en-US" sz="2100" b="1" dirty="0">
                <a:latin typeface="맑은 고딕"/>
                <a:ea typeface="맑은 고딕"/>
              </a:rPr>
              <a:t>단 </a:t>
            </a:r>
            <a:r>
              <a:rPr lang="en-US" altLang="ko-KR" sz="2100" b="1" dirty="0">
                <a:latin typeface="맑은 고딕"/>
                <a:ea typeface="맑은 고딕"/>
              </a:rPr>
              <a:t>26%</a:t>
            </a:r>
          </a:p>
          <a:p>
            <a:pPr algn="just">
              <a:lnSpc>
                <a:spcPct val="120000"/>
              </a:lnSpc>
            </a:pPr>
            <a:r>
              <a:rPr lang="en-US" altLang="ko-KR" sz="2000" dirty="0">
                <a:latin typeface="+mn-ea"/>
              </a:rPr>
              <a:t>- </a:t>
            </a:r>
            <a:r>
              <a:rPr lang="ko-KR" altLang="en-US" sz="2000" dirty="0">
                <a:latin typeface="+mn-ea"/>
              </a:rPr>
              <a:t> 외모</a:t>
            </a:r>
            <a:r>
              <a:rPr lang="en-US" altLang="ko-KR" sz="2000" dirty="0">
                <a:latin typeface="+mn-ea"/>
              </a:rPr>
              <a:t>·</a:t>
            </a:r>
            <a:r>
              <a:rPr lang="ko-KR" altLang="en-US" sz="2000" dirty="0">
                <a:latin typeface="+mn-ea"/>
              </a:rPr>
              <a:t>품종 편향으로 유기동물 </a:t>
            </a:r>
            <a:r>
              <a:rPr lang="ko-KR" altLang="en-US" sz="2000" b="1" dirty="0" err="1">
                <a:latin typeface="+mn-ea"/>
              </a:rPr>
              <a:t>입양률</a:t>
            </a:r>
            <a:r>
              <a:rPr lang="ko-KR" altLang="en-US" sz="2000" b="1" dirty="0">
                <a:latin typeface="+mn-ea"/>
              </a:rPr>
              <a:t> 불균형 발생</a:t>
            </a:r>
            <a:endParaRPr lang="en-US" altLang="ko-KR" sz="2000" b="1" dirty="0">
              <a:latin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2000" dirty="0">
                <a:latin typeface="+mn-ea"/>
              </a:rPr>
              <a:t>-</a:t>
            </a:r>
            <a:r>
              <a:rPr lang="ko-KR" altLang="en-US" sz="2000" dirty="0">
                <a:latin typeface="+mn-ea"/>
              </a:rPr>
              <a:t>  입양 후 이미지 생성으로 외모</a:t>
            </a:r>
            <a:r>
              <a:rPr lang="en-US" altLang="ko-KR" sz="2000" dirty="0">
                <a:latin typeface="+mn-ea"/>
              </a:rPr>
              <a:t>·</a:t>
            </a:r>
            <a:r>
              <a:rPr lang="ko-KR" altLang="en-US" sz="2000" dirty="0">
                <a:latin typeface="+mn-ea"/>
              </a:rPr>
              <a:t>품종 </a:t>
            </a:r>
            <a:r>
              <a:rPr lang="ko-KR" altLang="en-US" sz="2000" b="1" dirty="0">
                <a:latin typeface="+mn-ea"/>
              </a:rPr>
              <a:t>편향 완화 기대</a:t>
            </a:r>
            <a:endParaRPr lang="en-US" altLang="ko-KR" sz="2000" b="1" dirty="0">
              <a:latin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2000" dirty="0">
                <a:latin typeface="+mn-ea"/>
              </a:rPr>
              <a:t>-</a:t>
            </a:r>
            <a:r>
              <a:rPr lang="ko-KR" altLang="en-US" sz="2000" dirty="0">
                <a:latin typeface="+mn-ea"/>
              </a:rPr>
              <a:t>  </a:t>
            </a:r>
            <a:r>
              <a:rPr lang="ko-KR" altLang="en-US" sz="2000" spc="-150" dirty="0">
                <a:latin typeface="맑은 고딕"/>
                <a:ea typeface="맑은 고딕"/>
              </a:rPr>
              <a:t>개인 맞춤 품종 매칭으로 </a:t>
            </a:r>
            <a:r>
              <a:rPr lang="ko-KR" altLang="en-US" sz="2000" b="1" spc="-150" dirty="0" err="1">
                <a:latin typeface="맑은 고딕"/>
                <a:ea typeface="맑은 고딕"/>
              </a:rPr>
              <a:t>파양률</a:t>
            </a:r>
            <a:r>
              <a:rPr lang="ko-KR" altLang="en-US" sz="2000" b="1" spc="-150" dirty="0">
                <a:latin typeface="맑은 고딕"/>
                <a:ea typeface="맑은 고딕"/>
              </a:rPr>
              <a:t> </a:t>
            </a:r>
            <a:r>
              <a:rPr lang="ko-KR" altLang="en-US" sz="2000" b="1" spc="-150" dirty="0" err="1">
                <a:latin typeface="맑은 고딕"/>
                <a:ea typeface="맑은 고딕"/>
              </a:rPr>
              <a:t>감소</a:t>
            </a:r>
            <a:r>
              <a:rPr lang="ko-KR" sz="2000" spc="-150" dirty="0" err="1">
                <a:ea typeface="+mn-lt"/>
                <a:cs typeface="+mn-lt"/>
              </a:rPr>
              <a:t>·</a:t>
            </a:r>
            <a:r>
              <a:rPr lang="ko-KR" altLang="en-US" sz="2000" b="1" spc="-150" dirty="0" err="1">
                <a:latin typeface="맑은 고딕"/>
                <a:ea typeface="맑은 고딕"/>
              </a:rPr>
              <a:t>입양</a:t>
            </a:r>
            <a:r>
              <a:rPr lang="ko-KR" altLang="en-US" sz="2000" b="1" spc="-150" dirty="0">
                <a:latin typeface="맑은 고딕"/>
                <a:ea typeface="맑은 고딕"/>
              </a:rPr>
              <a:t> 성공률 향상</a:t>
            </a:r>
            <a:endParaRPr lang="en-US" altLang="ko-KR" sz="2000" b="1" spc="-150" dirty="0">
              <a:latin typeface="맑은 고딕"/>
              <a:ea typeface="맑은 고딕"/>
            </a:endParaRPr>
          </a:p>
          <a:p>
            <a:pPr algn="just">
              <a:lnSpc>
                <a:spcPct val="120000"/>
              </a:lnSpc>
            </a:pPr>
            <a:endParaRPr lang="ko-KR" altLang="en-US" sz="2000" b="1" spc="-150" dirty="0">
              <a:latin typeface="맑은 고딕"/>
              <a:ea typeface="맑은 고딕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2F72CD5-41AC-B559-4FF0-A8A2DB256B76}"/>
              </a:ext>
            </a:extLst>
          </p:cNvPr>
          <p:cNvCxnSpPr>
            <a:cxnSpLocks/>
          </p:cNvCxnSpPr>
          <p:nvPr/>
        </p:nvCxnSpPr>
        <p:spPr>
          <a:xfrm>
            <a:off x="1048362" y="11934504"/>
            <a:ext cx="13043875" cy="0"/>
          </a:xfrm>
          <a:prstGeom prst="line">
            <a:avLst/>
          </a:prstGeom>
          <a:ln w="38100" cap="rnd">
            <a:solidFill>
              <a:srgbClr val="56AC37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877AC8E-3006-6E68-7586-849F543F25F2}"/>
              </a:ext>
            </a:extLst>
          </p:cNvPr>
          <p:cNvSpPr txBox="1"/>
          <p:nvPr/>
        </p:nvSpPr>
        <p:spPr>
          <a:xfrm>
            <a:off x="993243" y="11365834"/>
            <a:ext cx="3154365" cy="553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6AC3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04</a:t>
            </a:r>
            <a:r>
              <a:rPr lang="en-US" altLang="ko-KR" sz="3000" b="1" dirty="0">
                <a:solidFill>
                  <a:srgbClr val="A6A0F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30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주요 기술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F864FE-24E5-9DFE-5BA8-EA514FCDDAE5}"/>
              </a:ext>
            </a:extLst>
          </p:cNvPr>
          <p:cNvSpPr txBox="1"/>
          <p:nvPr/>
        </p:nvSpPr>
        <p:spPr>
          <a:xfrm>
            <a:off x="7928292" y="11367138"/>
            <a:ext cx="3484688" cy="553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solidFill>
                  <a:srgbClr val="56AC3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05</a:t>
            </a:r>
            <a:r>
              <a:rPr lang="en-US" altLang="ko-KR" sz="3000" b="1">
                <a:solidFill>
                  <a:srgbClr val="A6A0F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3000" b="1">
                <a:latin typeface="HY헤드라인M" panose="02030600000101010101" pitchFamily="18" charset="-127"/>
                <a:ea typeface="HY헤드라인M" panose="02030600000101010101" pitchFamily="18" charset="-127"/>
              </a:rPr>
              <a:t>시스템 </a:t>
            </a:r>
            <a:r>
              <a:rPr lang="ko-KR" altLang="en-US" sz="30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구조도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1BDEBB-5501-F4F8-E171-76B7B95C4C81}"/>
              </a:ext>
            </a:extLst>
          </p:cNvPr>
          <p:cNvSpPr txBox="1"/>
          <p:nvPr/>
        </p:nvSpPr>
        <p:spPr>
          <a:xfrm>
            <a:off x="998759" y="16797728"/>
            <a:ext cx="6540277" cy="144090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60000">
              <a:lnSpc>
                <a:spcPct val="120000"/>
              </a:lnSpc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유기동물의 </a:t>
            </a:r>
            <a:r>
              <a:rPr lang="en-US" altLang="ko-KR" sz="2000" dirty="0">
                <a:latin typeface="+mn-ea"/>
              </a:rPr>
              <a:t>Before </a:t>
            </a:r>
            <a:r>
              <a:rPr lang="ko-KR" altLang="en-US" sz="2000" dirty="0">
                <a:latin typeface="+mn-ea"/>
              </a:rPr>
              <a:t>이미지와 품종 정보를 입력 </a:t>
            </a:r>
            <a:endParaRPr lang="en-US" altLang="ko-KR" sz="2000" dirty="0">
              <a:latin typeface="+mn-ea"/>
            </a:endParaRPr>
          </a:p>
          <a:p>
            <a:pPr marL="342900" indent="-360000">
              <a:lnSpc>
                <a:spcPct val="120000"/>
              </a:lnSpc>
              <a:buFont typeface="+mj-lt"/>
              <a:buAutoNum type="arabicPeriod"/>
            </a:pPr>
            <a:r>
              <a:rPr lang="ko-KR" altLang="en-US" sz="2000" spc="-150" dirty="0">
                <a:latin typeface="+mn-ea"/>
              </a:rPr>
              <a:t>이미지를 변환하여 구조적 특징 추출</a:t>
            </a:r>
            <a:r>
              <a:rPr lang="ko-KR" altLang="en-US" sz="2000" dirty="0">
                <a:latin typeface="+mn-ea"/>
              </a:rPr>
              <a:t> </a:t>
            </a:r>
            <a:endParaRPr lang="en-US" altLang="ko-KR" sz="2000" dirty="0">
              <a:latin typeface="+mn-ea"/>
            </a:endParaRPr>
          </a:p>
          <a:p>
            <a:pPr marL="342900" indent="-360000">
              <a:lnSpc>
                <a:spcPct val="120000"/>
              </a:lnSpc>
              <a:buFont typeface="+mj-lt"/>
              <a:buAutoNum type="arabicPeriod"/>
            </a:pP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유기동물의 입양 후 이미지를 생성</a:t>
            </a:r>
            <a:endParaRPr lang="en-US" altLang="ko-KR" sz="2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marL="342900" indent="-360000">
              <a:lnSpc>
                <a:spcPct val="120000"/>
              </a:lnSpc>
              <a:buFont typeface="+mj-lt"/>
              <a:buAutoNum type="arabicPeriod"/>
            </a:pPr>
            <a:r>
              <a:rPr lang="en-US" altLang="ko-KR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ControlNet Fine-Tuning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을 통한 생성 시간 감소</a:t>
            </a:r>
            <a:endParaRPr lang="en-US" altLang="ko-KR" sz="2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F5A1A8C-24DB-CB88-9DB0-7EDBF0E0ADF1}"/>
              </a:ext>
            </a:extLst>
          </p:cNvPr>
          <p:cNvSpPr/>
          <p:nvPr/>
        </p:nvSpPr>
        <p:spPr>
          <a:xfrm>
            <a:off x="1015635" y="16002333"/>
            <a:ext cx="6540809" cy="579358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200" b="1" dirty="0">
                <a:solidFill>
                  <a:schemeClr val="accent6">
                    <a:lumMod val="75000"/>
                  </a:schemeClr>
                </a:solidFill>
                <a:latin typeface="Malgun Gothic"/>
                <a:ea typeface="Gadugi"/>
              </a:rPr>
              <a:t>Before &amp; After </a:t>
            </a:r>
            <a:r>
              <a:rPr lang="ko-KR" altLang="en-US" sz="2200" b="1" dirty="0">
                <a:solidFill>
                  <a:schemeClr val="accent6">
                    <a:lumMod val="75000"/>
                  </a:schemeClr>
                </a:solidFill>
                <a:latin typeface="Malgun Gothic"/>
                <a:ea typeface="Malgun Gothic"/>
              </a:rPr>
              <a:t>이미지 생성 시스템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E950685-3A99-B887-C87E-0AF9ABCF862B}"/>
              </a:ext>
            </a:extLst>
          </p:cNvPr>
          <p:cNvSpPr/>
          <p:nvPr/>
        </p:nvSpPr>
        <p:spPr>
          <a:xfrm>
            <a:off x="1017451" y="18648965"/>
            <a:ext cx="6538993" cy="579358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2200" b="1" dirty="0">
                <a:solidFill>
                  <a:schemeClr val="accent6">
                    <a:lumMod val="75000"/>
                  </a:schemeClr>
                </a:solidFill>
                <a:latin typeface="Malgun Gothic"/>
                <a:ea typeface="Malgun Gothic"/>
              </a:rPr>
              <a:t>맞춤형 반려동물 품종 매칭 시스템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A7A8AA-FD6E-4A6A-687D-6135138FDB29}"/>
              </a:ext>
            </a:extLst>
          </p:cNvPr>
          <p:cNvSpPr txBox="1"/>
          <p:nvPr/>
        </p:nvSpPr>
        <p:spPr>
          <a:xfrm>
            <a:off x="999402" y="19375370"/>
            <a:ext cx="6538993" cy="10715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60000" algn="just">
              <a:lnSpc>
                <a:spcPct val="120000"/>
              </a:lnSpc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설문 응답을 </a:t>
            </a:r>
            <a:r>
              <a:rPr lang="en-US" altLang="ko-KR" sz="2000" dirty="0">
                <a:latin typeface="+mn-ea"/>
              </a:rPr>
              <a:t>LLM</a:t>
            </a:r>
            <a:r>
              <a:rPr lang="ko-KR" altLang="en-US" sz="2000" dirty="0">
                <a:latin typeface="+mn-ea"/>
              </a:rPr>
              <a:t>을 활용하여 개인 특성 추출</a:t>
            </a:r>
            <a:endParaRPr lang="en-US" altLang="ko-KR" sz="2000" dirty="0">
              <a:latin typeface="+mn-ea"/>
            </a:endParaRPr>
          </a:p>
          <a:p>
            <a:pPr marL="342900" indent="-360000" algn="just">
              <a:lnSpc>
                <a:spcPct val="120000"/>
              </a:lnSpc>
              <a:buFont typeface="+mj-lt"/>
              <a:buAutoNum type="arabicPeriod"/>
            </a:pPr>
            <a:r>
              <a:rPr lang="ko-KR" altLang="en-US" sz="2000" dirty="0"/>
              <a:t>개인 특성 </a:t>
            </a:r>
            <a:r>
              <a:rPr lang="ko-KR" altLang="en-US" sz="2000" dirty="0" err="1"/>
              <a:t>임베딩과</a:t>
            </a:r>
            <a:r>
              <a:rPr lang="ko-KR" altLang="en-US" sz="2000" dirty="0"/>
              <a:t> 품종 </a:t>
            </a:r>
            <a:r>
              <a:rPr lang="ko-KR" altLang="en-US" sz="2000" dirty="0" err="1"/>
              <a:t>임베딩</a:t>
            </a:r>
            <a:r>
              <a:rPr lang="ko-KR" altLang="en-US" sz="2000" dirty="0"/>
              <a:t> 간 코사인 유사도 계산</a:t>
            </a:r>
            <a:endParaRPr lang="en-US" altLang="ko-KR" sz="2000" dirty="0"/>
          </a:p>
          <a:p>
            <a:pPr marL="342900" indent="-360000" algn="just">
              <a:lnSpc>
                <a:spcPct val="120000"/>
              </a:lnSpc>
              <a:buFont typeface="+mj-lt"/>
              <a:buAutoNum type="arabicPeriod"/>
            </a:pPr>
            <a:r>
              <a:rPr lang="en-US" altLang="ko-KR" sz="2000" dirty="0">
                <a:latin typeface="+mn-ea"/>
              </a:rPr>
              <a:t>Top-K </a:t>
            </a:r>
            <a:r>
              <a:rPr lang="ko-KR" altLang="en-US" sz="2000" dirty="0">
                <a:latin typeface="+mn-ea"/>
              </a:rPr>
              <a:t>품종 추천 및 설명 제공으로 신뢰성 강화</a:t>
            </a:r>
            <a:endParaRPr lang="en-US" altLang="ko-KR" sz="2000" dirty="0"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873700-C972-862F-8A5F-553D5D55131F}"/>
              </a:ext>
            </a:extLst>
          </p:cNvPr>
          <p:cNvSpPr txBox="1"/>
          <p:nvPr/>
        </p:nvSpPr>
        <p:spPr>
          <a:xfrm>
            <a:off x="7998262" y="15125809"/>
            <a:ext cx="37584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6AC3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06</a:t>
            </a:r>
            <a:r>
              <a:rPr lang="en-US" altLang="ko-KR" sz="3000" b="1" dirty="0">
                <a:solidFill>
                  <a:srgbClr val="A6A0FA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30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성능 평가</a:t>
            </a:r>
            <a:endParaRPr lang="en-US" altLang="ko-KR" sz="3000" b="1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603D4DA6-4004-F414-F159-C4DC944BA569}"/>
              </a:ext>
            </a:extLst>
          </p:cNvPr>
          <p:cNvSpPr/>
          <p:nvPr/>
        </p:nvSpPr>
        <p:spPr>
          <a:xfrm>
            <a:off x="7189946" y="13936928"/>
            <a:ext cx="772564" cy="361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4E3E0D7-6D8F-85AF-0048-1E29FD4CD43A}"/>
              </a:ext>
            </a:extLst>
          </p:cNvPr>
          <p:cNvGrpSpPr/>
          <p:nvPr/>
        </p:nvGrpSpPr>
        <p:grpSpPr>
          <a:xfrm>
            <a:off x="1020682" y="9401120"/>
            <a:ext cx="4296970" cy="1871910"/>
            <a:chOff x="11667103" y="5387461"/>
            <a:chExt cx="2437877" cy="2400814"/>
          </a:xfrm>
        </p:grpSpPr>
        <p:sp>
          <p:nvSpPr>
            <p:cNvPr id="22" name="사각형: 둥근 모서리 40">
              <a:extLst>
                <a:ext uri="{FF2B5EF4-FFF2-40B4-BE49-F238E27FC236}">
                  <a16:creationId xmlns:a16="http://schemas.microsoft.com/office/drawing/2014/main" id="{8BD278D8-33C9-3E38-8AD1-06FD535C0CDC}"/>
                </a:ext>
              </a:extLst>
            </p:cNvPr>
            <p:cNvSpPr/>
            <p:nvPr/>
          </p:nvSpPr>
          <p:spPr>
            <a:xfrm>
              <a:off x="11667103" y="5637552"/>
              <a:ext cx="2437877" cy="2150723"/>
            </a:xfrm>
            <a:prstGeom prst="roundRect">
              <a:avLst>
                <a:gd name="adj" fmla="val 3800"/>
              </a:avLst>
            </a:prstGeom>
            <a:noFill/>
            <a:ln w="19050">
              <a:solidFill>
                <a:srgbClr val="56AC37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adugi" panose="020B0502040204020203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4975863-087F-F504-56A2-956C801EA226}"/>
                </a:ext>
              </a:extLst>
            </p:cNvPr>
            <p:cNvSpPr txBox="1"/>
            <p:nvPr/>
          </p:nvSpPr>
          <p:spPr>
            <a:xfrm>
              <a:off x="12334022" y="5387461"/>
              <a:ext cx="1098079" cy="4269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2000" b="1" dirty="0">
                  <a:solidFill>
                    <a:schemeClr val="accent6">
                      <a:lumMod val="75000"/>
                    </a:schemeClr>
                  </a:solidFill>
                  <a:latin typeface="Malgun Gothic"/>
                  <a:ea typeface="Gadugi"/>
                </a:rPr>
                <a:t>AI</a:t>
              </a:r>
              <a:r>
                <a:rPr lang="ko-KR" altLang="en-US" sz="2000" b="1" dirty="0">
                  <a:solidFill>
                    <a:schemeClr val="accent6">
                      <a:lumMod val="75000"/>
                    </a:schemeClr>
                  </a:solidFill>
                  <a:latin typeface="Malgun Gothic"/>
                  <a:ea typeface="Malgun Gothic"/>
                </a:rPr>
                <a:t> 이미지 생성</a:t>
              </a:r>
              <a:endParaRPr lang="en-US" altLang="ko-KR" sz="2000" b="1">
                <a:solidFill>
                  <a:schemeClr val="accent6">
                    <a:lumMod val="75000"/>
                  </a:schemeClr>
                </a:solidFill>
                <a:latin typeface="Malgun Gothic"/>
                <a:ea typeface="Malgun Gothic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63D6CD0-FFCD-2283-4028-E6A488CE64F4}"/>
                </a:ext>
              </a:extLst>
            </p:cNvPr>
            <p:cNvSpPr txBox="1"/>
            <p:nvPr/>
          </p:nvSpPr>
          <p:spPr>
            <a:xfrm>
              <a:off x="11737948" y="6085682"/>
              <a:ext cx="2349681" cy="13452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2000" spc="300" dirty="0">
                  <a:latin typeface="+mn-ea"/>
                </a:rPr>
                <a:t>- </a:t>
              </a:r>
              <a:r>
                <a:rPr lang="ko-KR" altLang="en-US" sz="2000" spc="300" dirty="0">
                  <a:latin typeface="+mn-ea"/>
                </a:rPr>
                <a:t>입양 후 </a:t>
              </a:r>
              <a:r>
                <a:rPr lang="en-US" altLang="ko-KR" sz="2000" spc="300" dirty="0">
                  <a:latin typeface="+mn-ea"/>
                </a:rPr>
                <a:t>AI</a:t>
              </a:r>
              <a:r>
                <a:rPr lang="ko-KR" altLang="en-US" sz="2000" spc="300" dirty="0">
                  <a:latin typeface="+mn-ea"/>
                </a:rPr>
                <a:t> 이미지 생성</a:t>
              </a:r>
              <a:endParaRPr lang="en-US" altLang="ko-KR" sz="2000" spc="300" dirty="0">
                <a:latin typeface="+mn-ea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2000" spc="300" dirty="0">
                  <a:latin typeface="+mn-ea"/>
                </a:rPr>
                <a:t>- </a:t>
              </a:r>
              <a:r>
                <a:rPr lang="ko-KR" altLang="en-US" sz="2000" spc="300" dirty="0">
                  <a:latin typeface="+mn-ea"/>
                </a:rPr>
                <a:t>사용자와 유기동물의 </a:t>
              </a:r>
              <a:br>
                <a:rPr lang="en-US" altLang="ko-KR" sz="2000" spc="300" dirty="0">
                  <a:latin typeface="+mn-ea"/>
                </a:rPr>
              </a:br>
              <a:r>
                <a:rPr lang="ko-KR" altLang="en-US" sz="2000" spc="300" dirty="0">
                  <a:latin typeface="+mn-ea"/>
                </a:rPr>
                <a:t>  동반 이미지 생성</a:t>
              </a:r>
              <a:endParaRPr lang="en-US" altLang="ko-KR" sz="2000" spc="300" dirty="0">
                <a:latin typeface="+mn-ea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1A8CA9E-FADC-E2D5-DF34-35D0D759D7FF}"/>
              </a:ext>
            </a:extLst>
          </p:cNvPr>
          <p:cNvGrpSpPr/>
          <p:nvPr/>
        </p:nvGrpSpPr>
        <p:grpSpPr>
          <a:xfrm>
            <a:off x="9791562" y="9405154"/>
            <a:ext cx="4296969" cy="1874920"/>
            <a:chOff x="11667103" y="5419147"/>
            <a:chExt cx="2437877" cy="2369128"/>
          </a:xfrm>
        </p:grpSpPr>
        <p:sp>
          <p:nvSpPr>
            <p:cNvPr id="45" name="사각형: 둥근 모서리 40">
              <a:extLst>
                <a:ext uri="{FF2B5EF4-FFF2-40B4-BE49-F238E27FC236}">
                  <a16:creationId xmlns:a16="http://schemas.microsoft.com/office/drawing/2014/main" id="{671E1746-CA38-ACA8-2E5E-934168F5F38D}"/>
                </a:ext>
              </a:extLst>
            </p:cNvPr>
            <p:cNvSpPr/>
            <p:nvPr/>
          </p:nvSpPr>
          <p:spPr>
            <a:xfrm>
              <a:off x="11667103" y="5637552"/>
              <a:ext cx="2437877" cy="2150723"/>
            </a:xfrm>
            <a:prstGeom prst="roundRect">
              <a:avLst>
                <a:gd name="adj" fmla="val 3800"/>
              </a:avLst>
            </a:prstGeom>
            <a:noFill/>
            <a:ln w="19050">
              <a:solidFill>
                <a:srgbClr val="56AC37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E3D241C-CB41-28A2-9A86-3BB9E2623A56}"/>
                </a:ext>
              </a:extLst>
            </p:cNvPr>
            <p:cNvSpPr txBox="1"/>
            <p:nvPr/>
          </p:nvSpPr>
          <p:spPr>
            <a:xfrm>
              <a:off x="12696955" y="5419147"/>
              <a:ext cx="378161" cy="420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2000" b="1" err="1">
                  <a:solidFill>
                    <a:schemeClr val="accent6">
                      <a:lumMod val="75000"/>
                    </a:schemeClr>
                  </a:solidFill>
                  <a:latin typeface="Malgun Gothic"/>
                  <a:ea typeface="Malgun Gothic"/>
                </a:rPr>
                <a:t>챗봇</a:t>
              </a:r>
              <a:r>
                <a:rPr lang="ko-KR" altLang="en-US" sz="2000" b="1" dirty="0">
                  <a:solidFill>
                    <a:schemeClr val="accent6">
                      <a:lumMod val="75000"/>
                    </a:schemeClr>
                  </a:solidFill>
                  <a:latin typeface="Malgun Gothic"/>
                  <a:ea typeface="Malgun Gothic"/>
                </a:rPr>
                <a:t> </a:t>
              </a:r>
              <a:endParaRPr lang="en-US" altLang="ko-KR" sz="2000" b="1">
                <a:solidFill>
                  <a:schemeClr val="accent6">
                    <a:lumMod val="75000"/>
                  </a:schemeClr>
                </a:solidFill>
                <a:latin typeface="Malgun Gothic"/>
                <a:ea typeface="Malgun Gothic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6B41E86-37F0-28F7-3C9B-2F2C7C42B9E6}"/>
                </a:ext>
              </a:extLst>
            </p:cNvPr>
            <p:cNvSpPr txBox="1"/>
            <p:nvPr/>
          </p:nvSpPr>
          <p:spPr>
            <a:xfrm>
              <a:off x="11775261" y="6054530"/>
              <a:ext cx="2240855" cy="129458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342900" indent="-342900">
                <a:lnSpc>
                  <a:spcPct val="120000"/>
                </a:lnSpc>
                <a:buFontTx/>
                <a:buChar char="-"/>
              </a:pPr>
              <a:r>
                <a:rPr lang="ko-KR" altLang="en-US" sz="2000" spc="300" dirty="0">
                  <a:latin typeface="+mn-ea"/>
                </a:rPr>
                <a:t>반려동물 관리 팁</a:t>
              </a:r>
              <a:r>
                <a:rPr lang="en-US" altLang="ko-KR" sz="2000" spc="300" dirty="0">
                  <a:latin typeface="+mn-ea"/>
                </a:rPr>
                <a:t>,</a:t>
              </a:r>
              <a:br>
                <a:rPr lang="en-US" altLang="ko-KR" sz="2000" spc="300" dirty="0">
                  <a:latin typeface="+mn-ea"/>
                </a:rPr>
              </a:br>
              <a:r>
                <a:rPr lang="en" altLang="ko-KR" sz="2000" spc="300" dirty="0">
                  <a:latin typeface="+mn-ea"/>
                </a:rPr>
                <a:t>MBTI </a:t>
              </a:r>
              <a:r>
                <a:rPr lang="ko-KR" altLang="en-US" sz="2000" spc="300" dirty="0">
                  <a:latin typeface="+mn-ea"/>
                </a:rPr>
                <a:t>기반 맞춤 추천 </a:t>
              </a:r>
              <a:endParaRPr lang="en-US" altLang="ko-KR" sz="2000" spc="300" dirty="0">
                <a:latin typeface="+mn-ea"/>
              </a:endParaRPr>
            </a:p>
            <a:p>
              <a:pPr marL="342900" indent="-342900">
                <a:lnSpc>
                  <a:spcPct val="120000"/>
                </a:lnSpc>
                <a:buFontTx/>
                <a:buChar char="-"/>
              </a:pPr>
              <a:r>
                <a:rPr lang="ko-KR" altLang="en-US" sz="2000" spc="300" dirty="0">
                  <a:latin typeface="+mn-ea"/>
                </a:rPr>
                <a:t>사용자 질문 실시간 답변</a:t>
              </a:r>
              <a:endParaRPr lang="en-US" altLang="ko-KR" sz="2000" spc="300" dirty="0">
                <a:latin typeface="+mn-ea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6BCEBB3-ACC9-D2BA-44EE-9FCA18FA0415}"/>
              </a:ext>
            </a:extLst>
          </p:cNvPr>
          <p:cNvGrpSpPr/>
          <p:nvPr/>
        </p:nvGrpSpPr>
        <p:grpSpPr>
          <a:xfrm>
            <a:off x="5389910" y="9409599"/>
            <a:ext cx="4296970" cy="1870475"/>
            <a:chOff x="11667103" y="5408046"/>
            <a:chExt cx="2437877" cy="2380229"/>
          </a:xfrm>
        </p:grpSpPr>
        <p:sp>
          <p:nvSpPr>
            <p:cNvPr id="34" name="사각형: 둥근 모서리 40">
              <a:extLst>
                <a:ext uri="{FF2B5EF4-FFF2-40B4-BE49-F238E27FC236}">
                  <a16:creationId xmlns:a16="http://schemas.microsoft.com/office/drawing/2014/main" id="{9FEF16D2-3122-F52D-F652-5532842E73A4}"/>
                </a:ext>
              </a:extLst>
            </p:cNvPr>
            <p:cNvSpPr/>
            <p:nvPr/>
          </p:nvSpPr>
          <p:spPr>
            <a:xfrm>
              <a:off x="11667103" y="5637552"/>
              <a:ext cx="2437877" cy="2150723"/>
            </a:xfrm>
            <a:prstGeom prst="roundRect">
              <a:avLst>
                <a:gd name="adj" fmla="val 3800"/>
              </a:avLst>
            </a:prstGeom>
            <a:noFill/>
            <a:ln w="19050">
              <a:solidFill>
                <a:srgbClr val="56AC37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Gadugi" panose="020B0502040204020203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B9B8AF8-B41A-A3A0-4908-1D9F1FF94FF7}"/>
                </a:ext>
              </a:extLst>
            </p:cNvPr>
            <p:cNvSpPr txBox="1"/>
            <p:nvPr/>
          </p:nvSpPr>
          <p:spPr>
            <a:xfrm>
              <a:off x="12542209" y="5408046"/>
              <a:ext cx="744677" cy="4236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2000" b="1" dirty="0">
                  <a:solidFill>
                    <a:schemeClr val="accent6">
                      <a:lumMod val="75000"/>
                    </a:schemeClr>
                  </a:solidFill>
                  <a:latin typeface="Malgun Gothic"/>
                  <a:ea typeface="Malgun Gothic"/>
                </a:rPr>
                <a:t>품종 매칭</a:t>
              </a:r>
              <a:endParaRPr lang="en-US" altLang="ko-KR" sz="2000" b="1">
                <a:solidFill>
                  <a:schemeClr val="accent6">
                    <a:lumMod val="75000"/>
                  </a:schemeClr>
                </a:solidFill>
                <a:latin typeface="Malgun Gothic"/>
                <a:ea typeface="Malgun Gothic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E9FC358-7AE2-E67A-2126-2A8CE5CFCAE0}"/>
                </a:ext>
              </a:extLst>
            </p:cNvPr>
            <p:cNvSpPr txBox="1"/>
            <p:nvPr/>
          </p:nvSpPr>
          <p:spPr>
            <a:xfrm>
              <a:off x="11742338" y="6083652"/>
              <a:ext cx="2345708" cy="13244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285750" indent="-285750">
                <a:lnSpc>
                  <a:spcPct val="120000"/>
                </a:lnSpc>
                <a:buFontTx/>
                <a:buChar char="-"/>
              </a:pPr>
              <a:r>
                <a:rPr lang="ko-KR" altLang="en-US" sz="2000" spc="300" dirty="0">
                  <a:latin typeface="+mn-ea"/>
                </a:rPr>
                <a:t>사용자가 입력한정보에 맞춰 반려동물 품종 추천</a:t>
              </a:r>
              <a:endParaRPr lang="en-US" altLang="ko-KR" sz="2000" spc="300" dirty="0">
                <a:latin typeface="+mn-ea"/>
              </a:endParaRPr>
            </a:p>
            <a:p>
              <a:pPr marL="285750" indent="-285750">
                <a:lnSpc>
                  <a:spcPct val="120000"/>
                </a:lnSpc>
                <a:buFontTx/>
                <a:buChar char="-"/>
              </a:pPr>
              <a:r>
                <a:rPr lang="ko-KR" altLang="en-US" sz="2000" spc="300" dirty="0">
                  <a:latin typeface="+mn-ea"/>
                </a:rPr>
                <a:t>반려동물 선택 가이드 제공</a:t>
              </a:r>
              <a:endParaRPr lang="en-US" altLang="ko-KR" sz="2000" spc="300" dirty="0">
                <a:latin typeface="+mn-ea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713D5EE9-5111-2C58-18B2-F710CB70D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62" y="5446031"/>
            <a:ext cx="13082789" cy="372801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EC54BC0-7995-0AC9-9D35-13A4D1D60549}"/>
              </a:ext>
            </a:extLst>
          </p:cNvPr>
          <p:cNvSpPr/>
          <p:nvPr/>
        </p:nvSpPr>
        <p:spPr>
          <a:xfrm>
            <a:off x="7588639" y="11676732"/>
            <a:ext cx="414336" cy="361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289F86-607B-98B6-3B36-3B71DD0B8766}"/>
              </a:ext>
            </a:extLst>
          </p:cNvPr>
          <p:cNvSpPr/>
          <p:nvPr/>
        </p:nvSpPr>
        <p:spPr>
          <a:xfrm>
            <a:off x="7588639" y="2913366"/>
            <a:ext cx="414336" cy="361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C138A1-C80C-FF44-512B-5DCE0E1D95E4}"/>
              </a:ext>
            </a:extLst>
          </p:cNvPr>
          <p:cNvSpPr txBox="1"/>
          <p:nvPr/>
        </p:nvSpPr>
        <p:spPr>
          <a:xfrm>
            <a:off x="9890449" y="1017755"/>
            <a:ext cx="4810612" cy="38472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 anchorCtr="0">
            <a:spAutoFit/>
          </a:bodyPr>
          <a:lstStyle/>
          <a:p>
            <a:pPr algn="r"/>
            <a:r>
              <a:rPr lang="en-US" altLang="ko-KR" sz="25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02-12 </a:t>
            </a:r>
            <a:r>
              <a:rPr lang="ko-KR" altLang="en-US" sz="25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팀  </a:t>
            </a:r>
            <a:r>
              <a:rPr lang="ko-KR" altLang="en-US" sz="2500" b="1" dirty="0" err="1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오승주</a:t>
            </a:r>
            <a:r>
              <a:rPr lang="en-US" altLang="ko-KR" sz="25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, </a:t>
            </a:r>
            <a:r>
              <a:rPr lang="ko-KR" altLang="en-US" sz="2500" b="1" dirty="0" err="1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유승환</a:t>
            </a:r>
            <a:r>
              <a:rPr lang="en-US" altLang="ko-KR" sz="25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, </a:t>
            </a:r>
            <a:r>
              <a:rPr lang="ko-KR" altLang="en-US" sz="2500" b="1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고건영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763DEA5-F557-19D4-7C12-757153B86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425191"/>
              </p:ext>
            </p:extLst>
          </p:nvPr>
        </p:nvGraphicFramePr>
        <p:xfrm>
          <a:off x="8047785" y="15723282"/>
          <a:ext cx="5958758" cy="30102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08900">
                  <a:extLst>
                    <a:ext uri="{9D8B030D-6E8A-4147-A177-3AD203B41FA5}">
                      <a16:colId xmlns:a16="http://schemas.microsoft.com/office/drawing/2014/main" val="924221465"/>
                    </a:ext>
                  </a:extLst>
                </a:gridCol>
                <a:gridCol w="1370480">
                  <a:extLst>
                    <a:ext uri="{9D8B030D-6E8A-4147-A177-3AD203B41FA5}">
                      <a16:colId xmlns:a16="http://schemas.microsoft.com/office/drawing/2014/main" val="1606619744"/>
                    </a:ext>
                  </a:extLst>
                </a:gridCol>
                <a:gridCol w="1489689">
                  <a:extLst>
                    <a:ext uri="{9D8B030D-6E8A-4147-A177-3AD203B41FA5}">
                      <a16:colId xmlns:a16="http://schemas.microsoft.com/office/drawing/2014/main" val="1321289785"/>
                    </a:ext>
                  </a:extLst>
                </a:gridCol>
                <a:gridCol w="1489689">
                  <a:extLst>
                    <a:ext uri="{9D8B030D-6E8A-4147-A177-3AD203B41FA5}">
                      <a16:colId xmlns:a16="http://schemas.microsoft.com/office/drawing/2014/main" val="1093616554"/>
                    </a:ext>
                  </a:extLst>
                </a:gridCol>
              </a:tblGrid>
              <a:tr h="7211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1" dirty="0">
                          <a:latin typeface="Malgun Gothic"/>
                        </a:rPr>
                        <a:t>Model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Malgun Gothic"/>
                        </a:rPr>
                        <a:t>CLIPScore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Malgun Gothic"/>
                        </a:rPr>
                        <a:t>LPIPS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algun Gothic"/>
                        </a:rPr>
                        <a:t>Inference</a:t>
                      </a:r>
                    </a:p>
                    <a:p>
                      <a:pPr algn="ctr">
                        <a:buNone/>
                      </a:pPr>
                      <a:r>
                        <a:rPr lang="en-US" sz="19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Malgun Gothic"/>
                        </a:rPr>
                        <a:t>Time</a:t>
                      </a:r>
                      <a:endParaRPr lang="en-US" altLang="ko-KR" sz="1900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Malgun Gothic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5067413"/>
                  </a:ext>
                </a:extLst>
              </a:tr>
              <a:tr h="11445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dirty="0">
                          <a:latin typeface="Malgun Gothic"/>
                        </a:rPr>
                        <a:t>w/o Control </a:t>
                      </a:r>
                    </a:p>
                    <a:p>
                      <a:pPr algn="l">
                        <a:buNone/>
                      </a:pPr>
                      <a:r>
                        <a:rPr lang="en-US" sz="1900" dirty="0">
                          <a:latin typeface="Malgun Gothic"/>
                        </a:rPr>
                        <a:t>Layer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900" dirty="0">
                          <a:latin typeface="Malgun Gothic"/>
                        </a:rPr>
                        <a:t>0.62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900" dirty="0">
                          <a:latin typeface="Malgun Gothic"/>
                        </a:rPr>
                        <a:t>0.41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latin typeface="Malgun Gothic"/>
                        </a:rPr>
                        <a:t>42.8 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4507862"/>
                  </a:ext>
                </a:extLst>
              </a:tr>
              <a:tr h="11445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1" dirty="0">
                          <a:latin typeface="Malgun Gothic"/>
                        </a:rPr>
                        <a:t>w/ Control </a:t>
                      </a:r>
                    </a:p>
                    <a:p>
                      <a:pPr algn="l">
                        <a:buNone/>
                      </a:pPr>
                      <a:r>
                        <a:rPr lang="en-US" sz="1900" b="1" dirty="0">
                          <a:latin typeface="Malgun Gothic"/>
                        </a:rPr>
                        <a:t>Layer (Ours)</a:t>
                      </a:r>
                      <a:endParaRPr lang="en-US" sz="1900" dirty="0">
                        <a:latin typeface="Malgun Gothic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900" b="1" dirty="0">
                          <a:latin typeface="Malgun Gothic"/>
                        </a:rPr>
                        <a:t>0.69</a:t>
                      </a:r>
                      <a:endParaRPr lang="ko-KR" altLang="en-US" sz="1900">
                        <a:latin typeface="Malgun Gothic"/>
                        <a:ea typeface="Malgun Gothic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900" b="1" dirty="0">
                          <a:latin typeface="Malgun Gothic"/>
                        </a:rPr>
                        <a:t>0.39</a:t>
                      </a:r>
                      <a:endParaRPr lang="ko-KR" altLang="en-US" sz="1900">
                        <a:latin typeface="Malgun Gothic"/>
                        <a:ea typeface="Malgun Gothic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1" dirty="0">
                          <a:latin typeface="Malgun Gothic"/>
                        </a:rPr>
                        <a:t>30.1 s</a:t>
                      </a:r>
                      <a:endParaRPr lang="en-US" sz="1900">
                        <a:latin typeface="Malgun Gothic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37429039"/>
                  </a:ext>
                </a:extLst>
              </a:tr>
            </a:tbl>
          </a:graphicData>
        </a:graphic>
      </p:graphicFrame>
      <p:pic>
        <p:nvPicPr>
          <p:cNvPr id="16" name="그림 15" descr="텍스트, 도표, 스크린샷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2EDE63-C6AA-16B2-9914-2F53C4164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"/>
          <a:stretch>
            <a:fillRect/>
          </a:stretch>
        </p:blipFill>
        <p:spPr>
          <a:xfrm>
            <a:off x="896618" y="12040309"/>
            <a:ext cx="6841369" cy="38053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E4DA87-8713-9057-194A-1D4B5F206CF5}"/>
              </a:ext>
            </a:extLst>
          </p:cNvPr>
          <p:cNvSpPr txBox="1"/>
          <p:nvPr/>
        </p:nvSpPr>
        <p:spPr>
          <a:xfrm>
            <a:off x="8047786" y="19575197"/>
            <a:ext cx="7463745" cy="10833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342900" indent="-342900" algn="just">
              <a:lnSpc>
                <a:spcPct val="120000"/>
              </a:lnSpc>
              <a:buFont typeface="Arial"/>
              <a:buChar char="-"/>
            </a:pPr>
            <a:r>
              <a:rPr lang="ko-KR" altLang="en-US" sz="2000" dirty="0" err="1">
                <a:latin typeface="맑은 고딕"/>
                <a:ea typeface="맑은 고딕"/>
                <a:cs typeface="+mn-lt"/>
              </a:rPr>
              <a:t>CLIPScore</a:t>
            </a:r>
            <a:r>
              <a:rPr lang="ko-KR" altLang="en-US" sz="2000" dirty="0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2000" b="1" dirty="0">
                <a:latin typeface="맑은 고딕"/>
                <a:ea typeface="맑은 고딕"/>
                <a:cs typeface="+mn-lt"/>
              </a:rPr>
              <a:t>+11% 향상</a:t>
            </a:r>
            <a:r>
              <a:rPr lang="ko-KR" altLang="en-US" sz="2000" dirty="0">
                <a:latin typeface="맑은 고딕"/>
                <a:ea typeface="맑은 고딕"/>
                <a:cs typeface="+mn-lt"/>
              </a:rPr>
              <a:t>, LPIPS </a:t>
            </a:r>
            <a:r>
              <a:rPr lang="ko-KR" altLang="en-US" sz="2000" b="1" dirty="0">
                <a:latin typeface="맑은 고딕"/>
                <a:ea typeface="맑은 고딕"/>
                <a:cs typeface="+mn-lt"/>
              </a:rPr>
              <a:t>5% 감소</a:t>
            </a:r>
            <a:endParaRPr lang="en-US" altLang="ko-KR" sz="2000" b="1" dirty="0">
              <a:latin typeface="맑은 고딕"/>
              <a:ea typeface="맑은 고딕"/>
            </a:endParaRPr>
          </a:p>
          <a:p>
            <a:pPr marL="342900" indent="-342900" algn="just">
              <a:lnSpc>
                <a:spcPct val="120000"/>
              </a:lnSpc>
              <a:buFontTx/>
              <a:buChar char="-"/>
            </a:pPr>
            <a:r>
              <a:rPr lang="ko-KR" altLang="en-US" sz="2000" dirty="0">
                <a:latin typeface="맑은 고딕"/>
                <a:ea typeface="맑은 고딕"/>
              </a:rPr>
              <a:t>추론 속도 </a:t>
            </a:r>
            <a:r>
              <a:rPr lang="ko-KR" altLang="en-US" sz="2000" b="1" dirty="0">
                <a:latin typeface="맑은 고딕"/>
                <a:ea typeface="맑은 고딕"/>
              </a:rPr>
              <a:t>약 </a:t>
            </a:r>
            <a:r>
              <a:rPr lang="en-US" altLang="ko-KR" sz="2000" b="1" dirty="0">
                <a:latin typeface="맑은 고딕"/>
                <a:ea typeface="맑은 고딕"/>
              </a:rPr>
              <a:t>30% </a:t>
            </a:r>
            <a:r>
              <a:rPr lang="ko-KR" altLang="en-US" sz="2000" b="1" dirty="0">
                <a:latin typeface="맑은 고딕"/>
                <a:ea typeface="맑은 고딕"/>
              </a:rPr>
              <a:t>단축</a:t>
            </a:r>
            <a:endParaRPr lang="en-US" altLang="ko-KR" sz="2000" dirty="0">
              <a:latin typeface="맑은 고딕"/>
              <a:ea typeface="맑은 고딕"/>
            </a:endParaRPr>
          </a:p>
          <a:p>
            <a:pPr marL="342900" indent="-342900" algn="just">
              <a:lnSpc>
                <a:spcPct val="120000"/>
              </a:lnSpc>
              <a:buFont typeface="Arial"/>
              <a:buChar char="•"/>
            </a:pPr>
            <a:r>
              <a:rPr lang="ko-KR" altLang="en-US" sz="2000" dirty="0">
                <a:latin typeface="맑은 고딕"/>
                <a:ea typeface="맑은 고딕"/>
              </a:rPr>
              <a:t>제안</a:t>
            </a:r>
            <a:r>
              <a:rPr lang="ko-KR" altLang="en-US" sz="2000" dirty="0">
                <a:latin typeface="맑은 고딕"/>
                <a:ea typeface="맑은 고딕"/>
                <a:cs typeface="+mn-lt"/>
              </a:rPr>
              <a:t> 모델 품질과 속도 </a:t>
            </a:r>
            <a:r>
              <a:rPr lang="ko-KR" altLang="en-US" sz="2000" b="1" dirty="0">
                <a:latin typeface="맑은 고딕"/>
                <a:ea typeface="맑은 고딕"/>
                <a:cs typeface="+mn-lt"/>
              </a:rPr>
              <a:t>동시 향상</a:t>
            </a:r>
            <a:endParaRPr lang="en-US" altLang="ko-KR" sz="2000" b="1" dirty="0">
              <a:latin typeface="맑은 고딕"/>
              <a:ea typeface="맑은 고딕"/>
              <a:cs typeface="+mn-lt"/>
            </a:endParaRPr>
          </a:p>
        </p:txBody>
      </p:sp>
      <p:pic>
        <p:nvPicPr>
          <p:cNvPr id="39" name="그림 38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C92AA1-A4B2-2137-1D07-0627546751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292" y="12110767"/>
            <a:ext cx="6277577" cy="274971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4E9D72D-C6B2-5C24-5814-BD48A7EB65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109" y="5494279"/>
            <a:ext cx="13104042" cy="38248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C654EB-E12D-1D81-B43A-E5E366745248}"/>
              </a:ext>
            </a:extLst>
          </p:cNvPr>
          <p:cNvSpPr txBox="1"/>
          <p:nvPr/>
        </p:nvSpPr>
        <p:spPr>
          <a:xfrm>
            <a:off x="8002632" y="18726266"/>
            <a:ext cx="6141223" cy="65716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Malgun Gothic"/>
                <a:ea typeface="맑은 고딕"/>
              </a:rPr>
              <a:t>*</a:t>
            </a:r>
            <a:r>
              <a:rPr lang="en-US" altLang="ko-KR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Malgun Gothic"/>
                <a:ea typeface="맑은 고딕"/>
              </a:rPr>
              <a:t>CLIPScore</a:t>
            </a:r>
            <a:r>
              <a:rPr lang="ko-KR" dirty="0">
                <a:latin typeface="맑은 고딕"/>
                <a:ea typeface="맑은 고딕"/>
              </a:rPr>
              <a:t>: 텍스트–이미지 의미 일치도 (↑ 높을수록 좋음) </a:t>
            </a:r>
            <a:endParaRPr lang="ko-KR" altLang="en-US" sz="1600" dirty="0">
              <a:latin typeface="Aptos" panose="02110004020202020204"/>
              <a:ea typeface="맑은 고딕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9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Malgun Gothic"/>
                <a:ea typeface="맑은 고딕"/>
              </a:rPr>
              <a:t>*</a:t>
            </a:r>
            <a:r>
              <a:rPr lang="en-US" altLang="ko-KR" sz="19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Malgun Gothic"/>
                <a:ea typeface="맑은 고딕"/>
              </a:rPr>
              <a:t>LPIPS</a:t>
            </a:r>
            <a:r>
              <a:rPr lang="ko-KR" dirty="0">
                <a:latin typeface="맑은 고딕"/>
                <a:ea typeface="맑은 고딕"/>
              </a:rPr>
              <a:t>: </a:t>
            </a:r>
            <a:r>
              <a:rPr lang="ko-KR" altLang="en-US" dirty="0">
                <a:latin typeface="맑은 고딕"/>
                <a:ea typeface="맑은 고딕"/>
              </a:rPr>
              <a:t>이미지 시각적</a:t>
            </a:r>
            <a:r>
              <a:rPr lang="ko-KR" dirty="0">
                <a:latin typeface="맑은 고딕"/>
                <a:ea typeface="맑은 고딕"/>
              </a:rPr>
              <a:t> 유사도 거리 (↓ 낮을수록 좋음)</a:t>
            </a:r>
            <a:endParaRPr lang="ko-KR" sz="16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8475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10366</TotalTime>
  <Words>285</Words>
  <Application>Microsoft Macintosh PowerPoint</Application>
  <PresentationFormat>사용자 지정</PresentationFormat>
  <Paragraphs>55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맑은 고딕</vt:lpstr>
      <vt:lpstr>맑은 고딕</vt:lpstr>
      <vt:lpstr>에스코어 드림 4 Regular</vt:lpstr>
      <vt:lpstr>에스코어 드림 6 Bold</vt:lpstr>
      <vt:lpstr>HY헤드라인M</vt:lpstr>
      <vt:lpstr>Aptos</vt:lpstr>
      <vt:lpstr>Aptos Display</vt:lpstr>
      <vt:lpstr>Arial</vt:lpstr>
      <vt:lpstr>Gadugi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김성욱</dc:creator>
  <cp:lastModifiedBy>승주 오</cp:lastModifiedBy>
  <cp:revision>250</cp:revision>
  <dcterms:created xsi:type="dcterms:W3CDTF">2024-10-13T11:40:46Z</dcterms:created>
  <dcterms:modified xsi:type="dcterms:W3CDTF">2025-10-17T11:59:19Z</dcterms:modified>
</cp:coreProperties>
</file>